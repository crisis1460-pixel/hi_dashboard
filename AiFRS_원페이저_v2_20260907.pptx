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.chapter-marker"/>
          <p:cNvSpPr/>
          <p:nvPr/>
        </p:nvSpPr>
        <p:spPr>
          <a:xfrm>
            <a:off x="762000" y="495300"/>
            <a:ext cx="228600" cy="190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master.chapter-indicator"/>
          <p:cNvSpPr txBox="1"/>
          <p:nvPr/>
        </p:nvSpPr>
        <p:spPr>
          <a:xfrm>
            <a:off x="762000" y="571500"/>
            <a:ext cx="1143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buNone/>
            </a:pPr>
            <a:r>
              <a:rPr sz="1100" b="0" spc="50">
                <a:solidFill>
                  <a:srgbClr val="0070C0"/>
                </a:solidFill>
                <a:latin typeface="Pretendard SemiBold"/>
                <a:ea typeface="Pretendard SemiBold"/>
                <a:cs typeface="Pretendard SemiBold"/>
              </a:rPr>
              <a:t>AiFRS</a:t>
            </a:r>
            <a:r>
              <a:rPr sz="11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 · 헥토이노베이션 </a:t>
            </a:r>
            <a:r>
              <a:rPr lang="en-US" sz="11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AI </a:t>
            </a:r>
            <a:r>
              <a:rPr sz="11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해커톤 2026</a:t>
            </a:r>
            <a:r>
              <a:rPr lang="en-US" altLang="ko-KR" sz="11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1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원페이저</a:t>
            </a:r>
            <a:endParaRPr sz="1100" b="0" spc="50">
              <a:solidFill>
                <a:srgbClr val="1D1D1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" name="master.slide-title"/>
          <p:cNvSpPr txBox="1"/>
          <p:nvPr/>
        </p:nvSpPr>
        <p:spPr>
          <a:xfrm>
            <a:off x="762000" y="1047750"/>
            <a:ext cx="16764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4400"/>
              </a:lnSpc>
              <a:buNone/>
            </a:pPr>
            <a:r>
              <a:rPr sz="4000" b="1" i="1" spc="-30">
                <a:solidFill>
                  <a:srgbClr val="1D1D1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Pretendard SemiBold"/>
              </a:rPr>
              <a:t>기준서 검토의 출발점을 만드는 AI, </a:t>
            </a:r>
            <a:r>
              <a:rPr sz="4000" b="1" i="1" spc="-3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Pretendard SemiBold"/>
              </a:rPr>
              <a:t>AiFRS</a:t>
            </a:r>
          </a:p>
        </p:txBody>
      </p:sp>
      <p:sp>
        <p:nvSpPr>
          <p:cNvPr id="5" name="master.slide-subtitle"/>
          <p:cNvSpPr txBox="1"/>
          <p:nvPr/>
        </p:nvSpPr>
        <p:spPr>
          <a:xfrm>
            <a:off x="762000" y="1766887"/>
            <a:ext cx="167640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3120"/>
              </a:lnSpc>
              <a:buNone/>
            </a:pPr>
            <a:r>
              <a:rPr sz="2400" b="0" spc="-2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K-IFRS 앞에서 막막한 초보 회계담당자에게, 봐야 할 기준서와 이어지는 설명을 제공합니다</a:t>
            </a:r>
          </a:p>
        </p:txBody>
      </p:sp>
      <p:sp>
        <p:nvSpPr>
          <p:cNvPr id="6" name="master.footer-hairline"/>
          <p:cNvSpPr/>
          <p:nvPr/>
        </p:nvSpPr>
        <p:spPr>
          <a:xfrm>
            <a:off x="622852" y="9525000"/>
            <a:ext cx="17064000" cy="952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aster.brand-logo"/>
          <p:cNvSpPr txBox="1"/>
          <p:nvPr/>
        </p:nvSpPr>
        <p:spPr>
          <a:xfrm>
            <a:off x="762000" y="97155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eaLnBrk="1" hangingPunct="1">
              <a:buNone/>
            </a:pPr>
            <a:r>
              <a:rPr sz="1200" b="1" spc="50">
                <a:solidFill>
                  <a:schemeClr val="accent6">
                    <a:lumMod val="75000"/>
                  </a:schemeClr>
                </a:solidFill>
                <a:latin typeface="Pretendard"/>
                <a:ea typeface="Pretendard"/>
                <a:cs typeface="Pretendard"/>
              </a:rPr>
              <a:t>HECTO INNOVATION</a:t>
            </a:r>
          </a:p>
        </p:txBody>
      </p:sp>
      <p:sp>
        <p:nvSpPr>
          <p:cNvPr id="9" name="L.before.eyebrow"/>
          <p:cNvSpPr txBox="1"/>
          <p:nvPr/>
        </p:nvSpPr>
        <p:spPr>
          <a:xfrm>
            <a:off x="762000" y="2657061"/>
            <a:ext cx="68516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buNone/>
            </a:pPr>
            <a:r>
              <a:rPr sz="1400" b="0" spc="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BEFORE  ·  기존 방식</a:t>
            </a:r>
          </a:p>
        </p:txBody>
      </p:sp>
      <p:sp>
        <p:nvSpPr>
          <p:cNvPr id="10" name="L.before.text"/>
          <p:cNvSpPr txBox="1"/>
          <p:nvPr/>
        </p:nvSpPr>
        <p:spPr>
          <a:xfrm>
            <a:off x="762000" y="2914650"/>
            <a:ext cx="68516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2175"/>
              </a:lnSpc>
              <a:buNone/>
            </a:pPr>
            <a:r>
              <a:rPr sz="1600" b="0" spc="-1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여러 기준서를 찾아 내 사례에 맞는지</a:t>
            </a:r>
            <a:br>
              <a:rPr sz="1600"/>
            </a:br>
            <a:r>
              <a:rPr sz="1600" b="0" spc="-1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일일이 비교하느라 오래 걸립니다</a:t>
            </a:r>
          </a:p>
        </p:txBody>
      </p:sp>
      <p:sp>
        <p:nvSpPr>
          <p:cNvPr id="11" name="L.after.eyebrow"/>
          <p:cNvSpPr txBox="1"/>
          <p:nvPr/>
        </p:nvSpPr>
        <p:spPr>
          <a:xfrm>
            <a:off x="762000" y="3755231"/>
            <a:ext cx="68516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buNone/>
            </a:pPr>
            <a:r>
              <a:rPr sz="1400" b="0" spc="5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AFTER  ·  AiFRS</a:t>
            </a:r>
          </a:p>
        </p:txBody>
      </p:sp>
      <p:sp>
        <p:nvSpPr>
          <p:cNvPr id="12" name="L.after.statement"/>
          <p:cNvSpPr txBox="1"/>
          <p:nvPr/>
        </p:nvSpPr>
        <p:spPr>
          <a:xfrm>
            <a:off x="762000" y="4057650"/>
            <a:ext cx="685165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3360"/>
              </a:lnSpc>
              <a:buNone/>
            </a:pPr>
            <a:r>
              <a:rPr sz="2800" b="0" spc="-2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문서를 올리면 봐야 할 기준서가 정리되고,</a:t>
            </a:r>
            <a:br/>
            <a:r>
              <a:rPr sz="2800" b="0" spc="-2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모르는 부분은 그 자리에서</a:t>
            </a:r>
            <a:br/>
            <a:r>
              <a:rPr sz="2800" b="0" spc="-2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바로 이어서 물어볼 수 있습니다</a:t>
            </a:r>
          </a:p>
        </p:txBody>
      </p:sp>
      <p:sp>
        <p:nvSpPr>
          <p:cNvPr id="13" name="L.persona.pill"/>
          <p:cNvSpPr/>
          <p:nvPr/>
        </p:nvSpPr>
        <p:spPr>
          <a:xfrm>
            <a:off x="762000" y="5715000"/>
            <a:ext cx="3333750" cy="40005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.persona.pill.text"/>
          <p:cNvSpPr txBox="1"/>
          <p:nvPr/>
        </p:nvSpPr>
        <p:spPr>
          <a:xfrm>
            <a:off x="762000" y="5715000"/>
            <a:ext cx="333375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초보 회계담당자 기준으로 설계</a:t>
            </a:r>
          </a:p>
        </p:txBody>
      </p:sp>
      <p:sp>
        <p:nvSpPr>
          <p:cNvPr id="15" name="L.persona.caption"/>
          <p:cNvSpPr txBox="1"/>
          <p:nvPr/>
        </p:nvSpPr>
        <p:spPr>
          <a:xfrm>
            <a:off x="762000" y="6248400"/>
            <a:ext cx="68516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1679"/>
              </a:lnSpc>
              <a:buNone/>
            </a:pPr>
            <a:r>
              <a:rPr sz="1400" b="0" spc="-5">
                <a:latin typeface="Pretendard"/>
                <a:ea typeface="Pretendard"/>
                <a:cs typeface="Pretendard"/>
              </a:rPr>
              <a:t>기준서 원문을 봐도 막막한 담당자가 모든 설명과 문구의 제</a:t>
            </a:r>
            <a:r>
              <a:rPr lang="en-US" altLang="ko-KR" sz="1400" b="0" spc="-5">
                <a:latin typeface="Pretendard"/>
                <a:ea typeface="Pretendard"/>
                <a:cs typeface="Pretendard"/>
              </a:rPr>
              <a:t> </a:t>
            </a:r>
            <a:r>
              <a:rPr sz="1400" b="0" spc="-5">
                <a:latin typeface="Pretendard"/>
                <a:ea typeface="Pretendard"/>
                <a:cs typeface="Pretendard"/>
              </a:rPr>
              <a:t>1 기준입니다</a:t>
            </a:r>
          </a:p>
        </p:txBody>
      </p:sp>
      <p:sp>
        <p:nvSpPr>
          <p:cNvPr id="16" name="L.pipeline.eyebrow"/>
          <p:cNvSpPr txBox="1"/>
          <p:nvPr/>
        </p:nvSpPr>
        <p:spPr>
          <a:xfrm>
            <a:off x="762000" y="6800850"/>
            <a:ext cx="685165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buNone/>
            </a:pPr>
            <a:r>
              <a:rPr sz="1200" b="0" spc="50">
                <a:solidFill>
                  <a:srgbClr val="7A7A7A"/>
                </a:solidFill>
                <a:latin typeface="Pretendard SemiBold"/>
                <a:ea typeface="Pretendard SemiBold"/>
                <a:cs typeface="Pretendard SemiBold"/>
              </a:rPr>
              <a:t>4-STEP PIPELINE</a:t>
            </a:r>
          </a:p>
        </p:txBody>
      </p:sp>
      <p:sp>
        <p:nvSpPr>
          <p:cNvPr id="17" name="L.chip1"/>
          <p:cNvSpPr/>
          <p:nvPr/>
        </p:nvSpPr>
        <p:spPr>
          <a:xfrm>
            <a:off x="762000" y="7029450"/>
            <a:ext cx="1028700" cy="381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.chip1.text"/>
          <p:cNvSpPr txBox="1"/>
          <p:nvPr/>
        </p:nvSpPr>
        <p:spPr>
          <a:xfrm>
            <a:off x="762000" y="7029450"/>
            <a:ext cx="10287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4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AI 분석</a:t>
            </a:r>
          </a:p>
        </p:txBody>
      </p:sp>
      <p:sp>
        <p:nvSpPr>
          <p:cNvPr id="19" name="L.chip-sep1"/>
          <p:cNvSpPr txBox="1"/>
          <p:nvPr/>
        </p:nvSpPr>
        <p:spPr>
          <a:xfrm>
            <a:off x="1790700" y="70294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800" b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L.chip2"/>
          <p:cNvSpPr/>
          <p:nvPr/>
        </p:nvSpPr>
        <p:spPr>
          <a:xfrm>
            <a:off x="2171700" y="7029450"/>
            <a:ext cx="1123950" cy="381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.chip2.text"/>
          <p:cNvSpPr txBox="1"/>
          <p:nvPr/>
        </p:nvSpPr>
        <p:spPr>
          <a:xfrm>
            <a:off x="2171700" y="7029450"/>
            <a:ext cx="112395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4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정밀분석</a:t>
            </a:r>
          </a:p>
        </p:txBody>
      </p:sp>
      <p:sp>
        <p:nvSpPr>
          <p:cNvPr id="22" name="L.chip-sep2"/>
          <p:cNvSpPr txBox="1"/>
          <p:nvPr/>
        </p:nvSpPr>
        <p:spPr>
          <a:xfrm>
            <a:off x="3295650" y="70294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800" b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L.chip3"/>
          <p:cNvSpPr/>
          <p:nvPr/>
        </p:nvSpPr>
        <p:spPr>
          <a:xfrm>
            <a:off x="3676650" y="7029450"/>
            <a:ext cx="1028700" cy="381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L.chip3.text"/>
          <p:cNvSpPr txBox="1"/>
          <p:nvPr/>
        </p:nvSpPr>
        <p:spPr>
          <a:xfrm>
            <a:off x="3676650" y="7029450"/>
            <a:ext cx="10287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4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AI 감사</a:t>
            </a:r>
          </a:p>
        </p:txBody>
      </p:sp>
      <p:sp>
        <p:nvSpPr>
          <p:cNvPr id="25" name="L.chip-sep3"/>
          <p:cNvSpPr txBox="1"/>
          <p:nvPr/>
        </p:nvSpPr>
        <p:spPr>
          <a:xfrm>
            <a:off x="4705350" y="70294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800" b="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L.chip4"/>
          <p:cNvSpPr/>
          <p:nvPr/>
        </p:nvSpPr>
        <p:spPr>
          <a:xfrm>
            <a:off x="5086350" y="7029450"/>
            <a:ext cx="2038350" cy="3810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L.chip4.text"/>
          <p:cNvSpPr txBox="1"/>
          <p:nvPr/>
        </p:nvSpPr>
        <p:spPr>
          <a:xfrm>
            <a:off x="5086350" y="7029450"/>
            <a:ext cx="2038350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eaLnBrk="1" hangingPunct="1">
              <a:buNone/>
            </a:pPr>
            <a:r>
              <a:rPr sz="14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쉬운 설명 · 후속 Q&amp;A</a:t>
            </a:r>
          </a:p>
        </p:txBody>
      </p:sp>
      <p:sp>
        <p:nvSpPr>
          <p:cNvPr id="28" name="L.metric1.figure"/>
          <p:cNvSpPr txBox="1"/>
          <p:nvPr/>
        </p:nvSpPr>
        <p:spPr>
          <a:xfrm>
            <a:off x="762000" y="7905750"/>
            <a:ext cx="2131483" cy="561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4400"/>
              </a:lnSpc>
              <a:buNone/>
            </a:pPr>
            <a:r>
              <a:rPr sz="40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30분</a:t>
            </a:r>
          </a:p>
        </p:txBody>
      </p:sp>
      <p:sp>
        <p:nvSpPr>
          <p:cNvPr id="29" name="L.metric1.caption"/>
          <p:cNvSpPr txBox="1"/>
          <p:nvPr/>
        </p:nvSpPr>
        <p:spPr>
          <a:xfrm>
            <a:off x="762000" y="8543925"/>
            <a:ext cx="2131483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1679"/>
              </a:lnSpc>
              <a:buNone/>
            </a:pPr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기준서 탐색 시간</a:t>
            </a:r>
            <a:br/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3~4시간 → 30분 이내</a:t>
            </a:r>
          </a:p>
        </p:txBody>
      </p:sp>
      <p:sp>
        <p:nvSpPr>
          <p:cNvPr id="30" name="L.metric2.figure"/>
          <p:cNvSpPr txBox="1"/>
          <p:nvPr/>
        </p:nvSpPr>
        <p:spPr>
          <a:xfrm>
            <a:off x="3122083" y="7905750"/>
            <a:ext cx="2131483" cy="561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4400"/>
              </a:lnSpc>
              <a:buNone/>
            </a:pPr>
            <a:r>
              <a:rPr sz="40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5,468</a:t>
            </a:r>
          </a:p>
        </p:txBody>
      </p:sp>
      <p:sp>
        <p:nvSpPr>
          <p:cNvPr id="31" name="L.metric2.caption"/>
          <p:cNvSpPr txBox="1"/>
          <p:nvPr/>
        </p:nvSpPr>
        <p:spPr>
          <a:xfrm>
            <a:off x="3122083" y="8543925"/>
            <a:ext cx="2131483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1679"/>
              </a:lnSpc>
              <a:buNone/>
            </a:pPr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내장 K-IFRS 문단</a:t>
            </a:r>
            <a:br/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50개 기준서 전체</a:t>
            </a:r>
          </a:p>
        </p:txBody>
      </p:sp>
      <p:sp>
        <p:nvSpPr>
          <p:cNvPr id="32" name="L.metric3.figure"/>
          <p:cNvSpPr txBox="1"/>
          <p:nvPr/>
        </p:nvSpPr>
        <p:spPr>
          <a:xfrm>
            <a:off x="5482167" y="7905750"/>
            <a:ext cx="2131483" cy="561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4400"/>
              </a:lnSpc>
              <a:buNone/>
            </a:pPr>
            <a:r>
              <a:rPr sz="40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854</a:t>
            </a:r>
          </a:p>
        </p:txBody>
      </p:sp>
      <p:sp>
        <p:nvSpPr>
          <p:cNvPr id="33" name="L.metric3.caption"/>
          <p:cNvSpPr txBox="1"/>
          <p:nvPr/>
        </p:nvSpPr>
        <p:spPr>
          <a:xfrm>
            <a:off x="5482167" y="8543925"/>
            <a:ext cx="2131483" cy="428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1679"/>
              </a:lnSpc>
              <a:buNone/>
            </a:pPr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쉬운 해설 용어</a:t>
            </a:r>
            <a:br/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초보자 눈높이 팝업</a:t>
            </a:r>
          </a:p>
        </p:txBody>
      </p:sp>
      <p:pic>
        <p:nvPicPr>
          <p:cNvPr id="34" name="R.hero.analysis" descr="hero3_a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250" y="2476500"/>
            <a:ext cx="9683750" cy="5448300"/>
          </a:xfrm>
          <a:prstGeom prst="roundRect">
            <a:avLst>
              <a:gd name="adj" fmla="val 3146"/>
            </a:avLst>
          </a:prstGeom>
          <a:effectLst>
            <a:outerShdw blurRad="285750" dist="55530" dir="3540000" algn="tl" rotWithShape="0">
              <a:srgbClr val="000000">
                <a:alpha val="22000"/>
              </a:srgbClr>
            </a:outerShdw>
          </a:effectLst>
        </p:spPr>
      </p:pic>
      <p:sp>
        <p:nvSpPr>
          <p:cNvPr id="35" name="R.hero.caption"/>
          <p:cNvSpPr txBox="1"/>
          <p:nvPr/>
        </p:nvSpPr>
        <p:spPr>
          <a:xfrm>
            <a:off x="7842250" y="8058150"/>
            <a:ext cx="457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eaLnBrk="1" hangingPunct="1">
              <a:lnSpc>
                <a:spcPts val="1679"/>
              </a:lnSpc>
              <a:buNone/>
            </a:pPr>
            <a:r>
              <a:rPr sz="1200" b="0" spc="-5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실제 분석 화면 — 계약서 1건을 올린 결과</a:t>
            </a:r>
          </a:p>
        </p:txBody>
      </p:sp>
      <p:pic>
        <p:nvPicPr>
          <p:cNvPr id="36" name="R.secondary.easy" descr="crop_hero3_c_ea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0" y="7315200"/>
            <a:ext cx="5524500" cy="1866900"/>
          </a:xfrm>
          <a:prstGeom prst="roundRect">
            <a:avLst>
              <a:gd name="adj" fmla="val 9183"/>
            </a:avLst>
          </a:prstGeom>
          <a:effectLst>
            <a:outerShdw blurRad="285750" dist="55530" dir="3540000" algn="tl" rotWithShape="0">
              <a:srgbClr val="000000">
                <a:alpha val="22000"/>
              </a:srgbClr>
            </a:outerShdw>
          </a:effectLst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E34D60A2-05AA-4892-BE8A-792860C27F7E}"/>
              </a:ext>
            </a:extLst>
          </p:cNvPr>
          <p:cNvSpPr/>
          <p:nvPr/>
        </p:nvSpPr>
        <p:spPr>
          <a:xfrm>
            <a:off x="622852" y="800100"/>
            <a:ext cx="17042296" cy="8582019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  <a:alpha val="3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134</Words>
  <Application>Microsoft Office PowerPoint</Application>
  <PresentationFormat>사용자 지정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HY헤드라인M</vt:lpstr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김지호</cp:lastModifiedBy>
  <cp:revision>3</cp:revision>
  <dcterms:created xsi:type="dcterms:W3CDTF">2013-01-27T09:14:16Z</dcterms:created>
  <dcterms:modified xsi:type="dcterms:W3CDTF">2026-09-08T04:14:56Z</dcterms:modified>
  <cp:category/>
</cp:coreProperties>
</file>