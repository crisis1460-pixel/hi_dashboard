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54864" cy="2926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7627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맑은 고딕"/>
              </a:rPr>
              <a:t>K-IFRS 자동 분석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33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맑은 고딕"/>
              </a:rPr>
              <a:t>사용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45536"/>
            <a:ext cx="502920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323697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090"/>
                </a:solidFill>
                <a:latin typeface="맑은 고딕"/>
              </a:rPr>
              <a:t>50개 K-IFRS 기준서  |  5,468개 문단 내장  |  Gemini API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387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090"/>
                </a:solidFill>
                <a:latin typeface="맑은 고딕"/>
              </a:rPr>
              <a:t>헥토이노베이션  |  JIHO KIM  |  2026.09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4462272" cy="429768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6090"/>
                </a:solidFill>
                <a:latin typeface="맑은 고딕"/>
              </a:rPr>
              <a:t>주요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737360"/>
            <a:ext cx="40690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88352" y="1911095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1920240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8836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AI 분석  -&gt;  정밀분석  -&gt;  AI감사  -&gt;  쉬운설명</a:t>
            </a:r>
          </a:p>
        </p:txBody>
      </p:sp>
      <p:sp>
        <p:nvSpPr>
          <p:cNvPr id="16" name="Oval 15"/>
          <p:cNvSpPr/>
          <p:nvPr/>
        </p:nvSpPr>
        <p:spPr>
          <a:xfrm>
            <a:off x="7388352" y="2395727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240487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368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즐겨찾기(★) 저장  |  결과 공유</a:t>
            </a:r>
          </a:p>
        </p:txBody>
      </p:sp>
      <p:sp>
        <p:nvSpPr>
          <p:cNvPr id="19" name="Oval 18"/>
          <p:cNvSpPr/>
          <p:nvPr/>
        </p:nvSpPr>
        <p:spPr>
          <a:xfrm>
            <a:off x="7388352" y="2880360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889504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8529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50개 기준서 원문 DB  |  오프라인 동작</a:t>
            </a:r>
          </a:p>
        </p:txBody>
      </p:sp>
      <p:sp>
        <p:nvSpPr>
          <p:cNvPr id="22" name="Oval 21"/>
          <p:cNvSpPr/>
          <p:nvPr/>
        </p:nvSpPr>
        <p:spPr>
          <a:xfrm>
            <a:off x="7388352" y="3364992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8352" y="337413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854개 K-IFRS 용어 팝업 해설</a:t>
            </a:r>
          </a:p>
        </p:txBody>
      </p:sp>
      <p:sp>
        <p:nvSpPr>
          <p:cNvPr id="25" name="Oval 24"/>
          <p:cNvSpPr/>
          <p:nvPr/>
        </p:nvSpPr>
        <p:spPr>
          <a:xfrm>
            <a:off x="7388352" y="3849624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385876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8221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리모컨  —  단계 가이드  |  숨김  |  처음</a:t>
            </a:r>
          </a:p>
        </p:txBody>
      </p:sp>
      <p:sp>
        <p:nvSpPr>
          <p:cNvPr id="28" name="Oval 27"/>
          <p:cNvSpPr/>
          <p:nvPr/>
        </p:nvSpPr>
        <p:spPr>
          <a:xfrm>
            <a:off x="7388352" y="4334256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8352" y="4343400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3068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단일 HTML 파일  |  설치·서버 불필요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Problem — 배경  -  02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K-IFRS 실무,  지금  어떻게  하고  있나요?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0808208" cy="86868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14B8A6"/>
                </a:solidFill>
                <a:latin typeface="맑은 고딕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7190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맑은 고딕"/>
              </a:rPr>
              <a:t>개 기준서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481328"/>
            <a:ext cx="9144" cy="50292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371600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1F5F9"/>
                </a:solidFill>
                <a:latin typeface="맑은 고딕"/>
              </a:rPr>
              <a:t>5,468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7190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맑은 고딕"/>
              </a:rPr>
              <a:t>개 문단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81328"/>
            <a:ext cx="9144" cy="50292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426464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상장기업·금융회사에 의무 적용되는 K-IFRS.
어느 거래에 어느 기준서가 적용되는지 파악하는 것 자체가 진입 장벽입니다.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31720"/>
            <a:ext cx="10808208" cy="1152144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66090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1F5F9"/>
                </a:solidFill>
                <a:latin typeface="맑은 고딕"/>
              </a:rPr>
              <a:t>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146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맑은 고딕"/>
              </a:rPr>
              <a:t>기준서 탐색에만 수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986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계약서 한 건에 연관 기준서를 찾고, 원문을 확인하고, 요건을 체크하는 데 숙련 담당자도 3~4시간 소요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30168"/>
            <a:ext cx="10808208" cy="1152144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9593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1F5F9"/>
                </a:solidFill>
                <a:latin typeface="맑은 고딕"/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130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맑은 고딕"/>
              </a:rPr>
              <a:t>읽어도 이해 안 되는 원문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970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법령 형식의 전문 용어·조문 체계 — 처음 K-IFRS를 접하는 실무 담당자에게는 이중 장벽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28616"/>
            <a:ext cx="10808208" cy="1152144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1F5F9"/>
                </a:solidFill>
                <a:latin typeface="맑은 고딕"/>
              </a:rP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114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맑은 고딕"/>
              </a:rPr>
              <a:t>교차 참조·상충 기준 파악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495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기준서마다 다른 인식·측정·공시 요건과 상호 참조 조문을 수작업으로 추적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Impact — 효과  -  03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맑은 고딕"/>
              </a:rPr>
              <a:t>담당자의 시간을  3~4시간에서  30분 이내로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074920" cy="480060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507492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090"/>
                </a:solidFill>
                <a:latin typeface="맑은 고딕"/>
              </a:rPr>
              <a:t>3 ~ 4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4B8A6"/>
                </a:solidFill>
                <a:latin typeface="맑은 고딕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  <a:latin typeface="맑은 고딕"/>
              </a:rPr>
              <a:t>30분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47872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94A3B8"/>
                </a:solidFill>
                <a:latin typeface="맑은 고딕"/>
              </a:rPr>
              <a:t>기준서 탐색 · 원문 확인 · 요건 체크
전 과정 자동화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138928"/>
            <a:ext cx="45262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4A6090"/>
                </a:solidFill>
                <a:latin typeface="맑은 고딕"/>
              </a:rPr>
              <a:t>API 비용 없이 Gemini 무료 키로 구동
브라우저만 있으면 어디서나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298448"/>
            <a:ext cx="5550408" cy="1481328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0" y="1298448"/>
            <a:ext cx="555040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49961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B8A6"/>
                </a:solidFill>
                <a:latin typeface="맑은 고딕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K-IFRS 기준서 전체 커버  (IAS + IFRS 전 범위)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926080"/>
            <a:ext cx="5550408" cy="1481328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0" y="2926080"/>
            <a:ext cx="555040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312724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  <a:latin typeface="맑은 고딕"/>
              </a:rPr>
              <a:t>5,468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8221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내장 문단  —  오프라인에서도 원문 검색·인용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553712"/>
            <a:ext cx="5550408" cy="1481328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0" y="4553712"/>
            <a:ext cx="555040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475488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B5CF6"/>
                </a:solidFill>
                <a:latin typeface="맑은 고딕"/>
              </a:rPr>
              <a:t>854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44982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용어 해설 + 쉬운설명으로 비전공자도 즉시 활용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Overview  -  04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AiFRS 란?  —  4단계 자동 분석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문서를 업로드하면 관련 K-IFRS 기준서 탐색부터 쉬운 설명까지 자동으로 진행됩니다.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587752" cy="4187952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5877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62763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  <a:latin typeface="맑은 고딕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맑은 고딕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4086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맑은 고딕"/>
              </a:rPr>
              <a:t>AI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706624"/>
            <a:ext cx="22585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</a:rPr>
              <a:t>업로드 문서의 거래구조 파악
관련 K-IFRS 기준서 후보
자동 선정 및 순위화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858768"/>
            <a:ext cx="2258568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3877055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후보 기준서 순위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1508760"/>
            <a:ext cx="2587752" cy="4187952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91256" y="1508760"/>
            <a:ext cx="25877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55848" y="162763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맑은 고딕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193852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맑은 고딕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234086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맑은 고딕"/>
              </a:rPr>
              <a:t>정밀분석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706624"/>
            <a:ext cx="22585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</a:rPr>
              <a:t>기준서 원문 요건 항목별 대조
충족 / 미충족 / 확인필요
항목별 분류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5848" y="3858768"/>
            <a:ext cx="2258568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5848" y="3877055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원문 § 근거 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9592" y="1508760"/>
            <a:ext cx="2587752" cy="4187952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79592" y="1508760"/>
            <a:ext cx="25877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44183" y="162763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맑은 고딕"/>
              </a:rPr>
              <a:t>STEP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4183" y="193852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맑은 고딕"/>
              </a:rPr>
              <a:t>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4183" y="234086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맑은 고딕"/>
              </a:rPr>
              <a:t>AI 감사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3" y="2706624"/>
            <a:ext cx="22585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</a:rPr>
              <a:t>실제 문서 원문 근거로 각
요건 충족 여부 확정
판정 게이트 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44183" y="3858768"/>
            <a:ext cx="2258568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44183" y="3877055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근거 있는 판정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67928" y="1508760"/>
            <a:ext cx="2587752" cy="4187952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67928" y="1508760"/>
            <a:ext cx="25877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20" y="162763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5CF6"/>
                </a:solidFill>
                <a:latin typeface="맑은 고딕"/>
              </a:rPr>
              <a:t>STEP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193852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맑은 고딕"/>
              </a:rPr>
              <a:t>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34086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맑은 고딕"/>
              </a:rPr>
              <a:t>쉬운 설명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706624"/>
            <a:ext cx="22585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</a:rPr>
              <a:t>왜·무엇을·어떻게·주의사항
비전공자도 이해하는
단계별 가이드 생성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3858768"/>
            <a:ext cx="2258568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32520" y="3877055"/>
            <a:ext cx="2258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맑은 고딕"/>
              </a:rPr>
              <a:t>초보 담당자용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06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※ 각 단계는 순서대로 진행됩니다. 이전 단계 완료 후 다음 단계 버튼이 활성화됩니다.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시작하기  -  05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시작하기  —  준비물 &amp; API 키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AiFRS는 Gemini API를 사용합니다. 무료 키로 즉시 구동됩니다.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521208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   준비물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5"/>
            <a:ext cx="484632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9808" y="2039112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05740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크롬 / 엣지 등 최신 브라우저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2697480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AiFRS.html 파일 (단일 파일)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355848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37413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1012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Google Gemini API 키 (무료)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4014215"/>
            <a:ext cx="256032" cy="256032"/>
          </a:xfrm>
          <a:prstGeom prst="ellipse">
            <a:avLst/>
          </a:prstGeom>
          <a:solidFill>
            <a:srgbClr val="1A2D52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03250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6849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분석할 계약서 또는 검토 문서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81728"/>
            <a:ext cx="4709160" cy="68580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맑은 고딕"/>
              </a:rPr>
              <a:t>API 키는 설정 패널에만 저장됩니다. 외부 서버로 전송되지 않습니다.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1444752"/>
            <a:ext cx="548640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   API 키 설정 방법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911095"/>
            <a:ext cx="52120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8" y="199339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19933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Google AI Studio(aistudio.google.com) 접속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54203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25420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[Get API Key] 클릭  -&gt;  무료 키 생성 후 복사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09067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30906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AiFRS.html 열기  -&gt;  우측 상단 설정(톱니) 아이콘 클릭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6393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363931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API 키 입력 후 [저장] 클릭  -&gt;  초록 불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18795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41879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설정 닫기  -&gt;  준비 완료!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645152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47365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맑은 고딕"/>
              </a:rPr>
              <a:t>Gemini 2.5 Flash 모델이 기본값입니다. 분당 무료 할당량 내에서 사용됩니다.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Step 01 — AI 분석  -  06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82F6"/>
                </a:solidFill>
                <a:latin typeface="맑은 고딕"/>
              </a:rPr>
              <a:t>Step 1  :  AI 분석  —  문서 업로드 &amp; 기준서 후보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업로드한 문서의 거래 구조를 파악하고 관련 K-IFRS 기준서 후보를 관련성 순으로 나열합니다.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521208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   문서 업로드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5"/>
            <a:ext cx="484632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9339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199339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[파일 업로드] 버튼 클릭 또는 PDF 드래그 앤 드롭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87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48716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분석 문서 선택  (PDF, Word, 이미지 지원)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8094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298094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[AI 분석 시작] 버튼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74720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47472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맑은 고딕"/>
              </a:rPr>
              <a:t>결과 카드에서 관련성 높은 기준서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862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맑은 고딕"/>
              </a:rPr>
              <a:t>여러 파일 동시 업로드 가능. 파일마다 독립 분석됩니다.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87952"/>
            <a:ext cx="4709160" cy="109728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090"/>
                </a:solidFill>
                <a:latin typeface="맑은 고딕"/>
              </a:rPr>
              <a:t>지원 파일 형식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537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PDF  |  DOCX  |  XLSX  |  PNG / JPG (OCR 자동 처리)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맑은 고딕"/>
              </a:rPr>
              <a:t>암호화(DRM) 문서는 사전 해제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444752"/>
            <a:ext cx="548640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   분석 결과 카드 읽기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911095"/>
            <a:ext cx="52120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72200" y="199339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0116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관련성 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99339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기준서별 관련성을 컬러 바로 표시 (80%+ = 확인됨)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58775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260604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등급 배지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58775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확인됨 / 추가검토필요 / 참고용 — 기준서 중요도 분류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18211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20040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결론 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18211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핵심 회계 논점과 행동 지침 요약 표시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7647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37947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맑은 고딕"/>
              </a:rPr>
              <a:t>예상 질문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77647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문서 맞춤 예상 질문 칩 — 클릭하면 입력창에 자동 채움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37083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43891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맑은 고딕"/>
              </a:rPr>
              <a:t>후속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37083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결론 카드 하단 입력창에서 AI에게 추가 질문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800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090"/>
                </a:solidFill>
                <a:latin typeface="맑은 고딕"/>
              </a:rPr>
              <a:t>분석 완료 후 [정밀분석] 버튼이 활성화됩니다. Step 2로 이동하세요.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Step 02 — 정밀분석  -  07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B8A6"/>
                </a:solidFill>
                <a:latin typeface="맑은 고딕"/>
              </a:rPr>
              <a:t>Step 2  :  정밀분석  —  원문 요건 항목별 대조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AI 분석이 선정한 기준서 후보에 대해 원문 요건을 항목별로 대조하고 충족 여부를 분류합니다.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3529584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맑은 고딕"/>
              </a:rPr>
              <a:t>충족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문서에서 해당 요건을 충족하는
근거 원문이 확인된 항목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08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8536" y="1508760"/>
            <a:ext cx="3529584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71416" y="1609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확인필요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9385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추가 서류 또는 판단이 필요한
항목. 게이트 질문 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508760"/>
            <a:ext cx="3529584" cy="16916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4152" y="1508760"/>
            <a:ext cx="3529584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609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맑은 고딕"/>
              </a:rPr>
              <a:t>미충족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요건 불충족 또는
문서 내 근거가 없는 항목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11100816" cy="265176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465576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   정밀분석 상세 기능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03904"/>
            <a:ext cx="10332719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395020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96849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원문 §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5020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각 항목 [원문 보기] 클릭  -&gt;  기준서 해당 조문 전체 팝업 표시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95020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96849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조문 번호 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95020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항목 옆 §번호 클릭  -&gt;  내장 DB에서 해당 원문 즉시 참조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4456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5628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도넛 차트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54456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충족·확인필요·미충족 비율 시각화. 정밀분석 패널 상단 표시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54456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45628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맑은 고딕"/>
              </a:rPr>
              <a:t>항목 상세보기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54456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항목별 [상세] 클릭  -&gt;  AI 판단 근거 텍스트 펼쳐 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정밀분석 완료 후 [AI 감사 실행] 버튼이 활성화됩니다. Step 3으로 이동하세요.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Step 03 — AI 감사  -  08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맑은 고딕"/>
              </a:rPr>
              <a:t>Step 3  :  AI 감사  —  판정 게이트 &amp;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실제 문서 원문을 근거로 각 요건의 충족 여부를 최종 확정합니다.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521208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   판정 게이트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5"/>
            <a:ext cx="484632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1993392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01168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확정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요건 충족이 원문으로 확인됨. 게이트 통과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1288" y="2313432"/>
            <a:ext cx="36576" cy="43891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" y="2862072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8803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확인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862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추가 서류 또는 판단 필요. 게이트 질문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" y="3182112"/>
            <a:ext cx="36576" cy="438912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3730752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749039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보완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37307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요건 불충족. 보완 방향 가이드 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06240"/>
            <a:ext cx="4709160" cy="658368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맑은 고딕"/>
              </a:rPr>
              <a:t>게이트 질문에 답변하면 AI가 판정 근거를 업데이트합니다.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444752"/>
            <a:ext cx="548640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   감사 결과 보는 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911095"/>
            <a:ext cx="52120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72200" y="1993392"/>
            <a:ext cx="13258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01168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감사의견 요약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99339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결과 상단에 판정 요약문 한 줄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578608"/>
            <a:ext cx="13258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259689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1F5F9"/>
                </a:solidFill>
                <a:latin typeface="맑은 고딕"/>
              </a:rPr>
              <a:t>항목 리스트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57860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확인됨(O) / 확인필요(?) / 보완필요(!) 구분 표시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163824"/>
            <a:ext cx="13258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182112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C55E"/>
                </a:solidFill>
                <a:latin typeface="맑은 고딕"/>
              </a:rPr>
              <a:t>전항목 충족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16382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이슈 없으면 항목 리스트 자동 접힘 (클릭하면 확인)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49039"/>
            <a:ext cx="13258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3767327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판단 트리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749039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판정 게이트 단계별 상태를 흐름도로 시각화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334256"/>
            <a:ext cx="13258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435254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즐겨찾기 저장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3342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결과 상단 오른쪽 별표(☆) 클릭  -&gt;  감사 결과 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800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090"/>
                </a:solidFill>
                <a:latin typeface="맑은 고딕"/>
              </a:rPr>
              <a:t>AI 감사 완료 후 [AI 전체 검토 시작] 버튼으로 Step 4 쉬운설명을 실행하세요.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Step 04 — 쉬운 설명  -  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CF6"/>
                </a:solidFill>
                <a:latin typeface="맑은 고딕"/>
              </a:rPr>
              <a:t>Step 4  :  쉬운 설명  —  비전공자 가이드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AI 감사 결과를 바탕으로 '왜·무엇을·어떻게·주의사항' 4단 구조로 쉬운 설명을 생성합니다.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587752" cy="228600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5877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60934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맑은 고딕"/>
              </a:rPr>
              <a:t>왜 (Why)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2258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이 기준서가 왜 해당 거래에
적용되는지 핵심 이유 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1256" y="1508760"/>
            <a:ext cx="2587752" cy="228600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91256" y="1508760"/>
            <a:ext cx="25877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60934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맑은 고딕"/>
              </a:rPr>
              <a:t>무엇을 (What)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938528"/>
            <a:ext cx="2258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적용해야 하는 회계 처리의
핵심 내용을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9592" y="1508760"/>
            <a:ext cx="2587752" cy="228600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79592" y="1508760"/>
            <a:ext cx="25877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44183" y="160934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어떻게 (How)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3" y="1938528"/>
            <a:ext cx="2258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단계별 처리 방법 및 실무
적용 순서를 쉬운 말로 안내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67928" y="1508760"/>
            <a:ext cx="2587752" cy="228600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67928" y="1508760"/>
            <a:ext cx="25877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160934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맑은 고딕"/>
              </a:rPr>
              <a:t>주의사항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938528"/>
            <a:ext cx="2258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실수하기 쉬운 포인트와
추가 확인 필요 사항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50208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0782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   쉬운 설명 실행 방법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2"/>
            <a:ext cx="484632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4988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1.  결론 카드 하단 [AI 전체 검토 시작] 버튼 클릭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9377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2.  기준서별 쉬운설명이 순서대로 생성됨 (항목당 5~15초)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76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3.  결과 확인 후 하단 별표(☆)로 전체 분석 결과 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950208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4078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   즐겨찾기 저장 타이밍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416552"/>
            <a:ext cx="486000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4526280"/>
            <a:ext cx="4892040" cy="57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쉬운설명 완료 후 결과 하단 별표(☆) 클릭  -&gt;  전 단계(AI분석 / 정밀분석 / AI감사 / 쉬운설명) 완료 스냅샷이 즐겨찾기에 저장됩니다. 헤더 별(⭐) 아이콘으로 저장 목록을 새 창에서 열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25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즐겨찾기(★)  -  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즐겨찾기(★)  —  저장 · 공유 · 파일 내보내기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AI감사 또는 쉬운설명 완료 후 별표(☆) 버튼으로 전체 분석 결과를 저장·공유할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521208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   저장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5"/>
            <a:ext cx="484632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1993392"/>
            <a:ext cx="15544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AI감사 결과 상단 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AI감사 완료 직후 저장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542032"/>
            <a:ext cx="15544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5603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☆ 쉬운설명 하단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전 단계 완료 후 최종 저장 권장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090672"/>
            <a:ext cx="15544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1089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헤더 ⭐ 아이콘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3090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저장 목록을 새 창으로 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39312"/>
            <a:ext cx="15544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6576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맑은 고딕"/>
              </a:rPr>
              <a:t>건수 뱃지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3639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맑은 고딕"/>
              </a:rPr>
              <a:t>저장된 항목 수 실시간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96512"/>
            <a:ext cx="4709160" cy="713232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87952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두 별표(☆)는 동일 항목 공유. 어느 쪽에서 저장해도 같은 결과. 재클릭 시 최신 상태로 덮어씁니다.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19472"/>
            <a:ext cx="4709160" cy="77724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090"/>
                </a:solidFill>
                <a:latin typeface="맑은 고딕"/>
              </a:rPr>
              <a:t>저장 범위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66944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6090"/>
                </a:solidFill>
                <a:latin typeface="맑은 고딕"/>
              </a:rPr>
              <a:t>AI분석 결과 + 정밀분석 항목 + AI감사 의견 + 쉬운설명 + 후속 Q&amp;A 이력 전체 </a:t>
            </a:r>
            <a:endParaRPr lang="en-US" altLang="ko-KR" sz="900" b="0" i="0">
              <a:solidFill>
                <a:srgbClr val="4A6090"/>
              </a:solidFill>
              <a:latin typeface="맑은 고딕"/>
            </a:endParaRPr>
          </a:p>
          <a:p>
            <a:pPr algn="l"/>
            <a:r>
              <a:rPr sz="900" b="0" i="0">
                <a:solidFill>
                  <a:srgbClr val="4A6090"/>
                </a:solidFill>
                <a:latin typeface="맑은 고딕"/>
              </a:rPr>
              <a:t>(파일명·기준서·저장시각 포함)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444752"/>
            <a:ext cx="548640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2200" y="1572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   뷰어 &amp; 공유 방법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911095"/>
            <a:ext cx="52120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72200" y="1993392"/>
            <a:ext cx="128016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20116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맑은 고딕"/>
              </a:rPr>
              <a:t>즐겨찾기 뷰어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199339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헤더 ⭐ 클릭  -&gt;  새 창에서 저장 목록 열기
좌측 목록 + 우측 전체 결과 확인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770632"/>
            <a:ext cx="128016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27889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맑은 고딕"/>
              </a:rPr>
              <a:t>공유 파일 내보내기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77063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[내보내기] 버튼  -&gt;  공유 파일 다운로드
동료에게 전달하면 즉시 목록에 추가 가능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547872"/>
            <a:ext cx="128016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35661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맑은 고딕"/>
              </a:rPr>
              <a:t>공유 파일 가져오기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54787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[가져오기] 버튼  -&gt;  공유 파일 선택
중복 항목 자동 제외, 즉시 목록에 추가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325112"/>
            <a:ext cx="128016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43434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  <a:latin typeface="맑은 고딕"/>
              </a:rPr>
              <a:t>항목 삭제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32511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94A3B8"/>
                </a:solidFill>
                <a:latin typeface="맑은 고딕"/>
              </a:rPr>
              <a:t>뷰어 목록에서 항목별 [삭제] 가능
저장 공간 부족 시 오래된 항목 삭제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주요 기능  -  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주요 기능  —  기준서 DB  |  용어 팝업  |  리모컨  |  이력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394960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600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기준서 원문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938528"/>
            <a:ext cx="489204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02996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50개 K-IFRS 기준서 (IAS+IFRS) 전 범위 커버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5,468개 문단 내장  —  오프라인에서도 검색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6148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조문 번호 §클릭  -&gt;  팝업으로 원문 즉시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1272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원문 인용 블록 클릭  -&gt;  280자 컨텍스트 팝업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53949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600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용어 해설 팝업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368" y="1938528"/>
            <a:ext cx="489204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02996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854개 K-IFRS 전문 용어 내장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39572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분석 결과 내 파란 밑줄 용어 클릭  -&gt;  팝업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76148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용어 정의 / 관련 기준서 조문 / 쉬운 설명 제공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1272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앱 내에서 즉시 확인, 별도 검색 불필요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40479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840479"/>
            <a:ext cx="53949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9319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리모컨 패널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" y="4270247"/>
            <a:ext cx="489204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6168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화면 우측 리모컨 아이콘 클릭으로 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7274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다음 할 일  —  현재 단계 기준 즉시 행동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09320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숨김/펼침  —  특정 기준서 결과 접기·열기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4589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처음으로  —  전체 초기화 (분석 결과 삭제)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40479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3840479"/>
            <a:ext cx="539496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39319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맑은 고딕"/>
              </a:rPr>
              <a:t>분석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3368" y="4270247"/>
            <a:ext cx="489204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3368" y="436168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최근 분석 최대 10건 자동 저장 (브라우저 내 보관)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7274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[기록] 탭에서 이전 분석 결과 불러오기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5093207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재분석 없이 과거 결과 즉시 복원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54589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  공간 부족 시 가장 오래된 항목부터 자동 제거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1645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4B8A6"/>
                </a:solidFill>
                <a:latin typeface="맑은 고딕"/>
              </a:rPr>
              <a:t>AiFRS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6090"/>
                </a:solidFill>
                <a:latin typeface="맑은 고딕"/>
              </a:rPr>
              <a:t>빠른 시작 요약  -  13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83112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1F5F9"/>
                </a:solidFill>
                <a:latin typeface="맑은 고딕"/>
              </a:rPr>
              <a:t>빠른 시작 요약  —  5단계 체크리스트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6400800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맑은 고딕"/>
              </a:rPr>
              <a:t>   5단계 체크리스트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11095"/>
            <a:ext cx="612648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020824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391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맑은 고딕"/>
              </a:rPr>
              <a:t>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19933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1F5F9"/>
                </a:solidFill>
                <a:latin typeface="맑은 고딕"/>
              </a:rPr>
              <a:t>브라우저에서 AiFRS.html 열기
-&gt;  설정(톱니)에서 Gemini API 키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52344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889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770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B8A6"/>
                </a:solidFill>
                <a:latin typeface="맑은 고딕"/>
              </a:rPr>
              <a:t>AI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7249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1F5F9"/>
                </a:solidFill>
                <a:latin typeface="맑은 고딕"/>
              </a:rPr>
              <a:t>문서 업로드  -&gt;  [AI 분석 시작]
-&gt;  관련 기준서 후보·관련성 바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83864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5021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맑은 고딕"/>
              </a:rPr>
              <a:t>정밀분석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34564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1F5F9"/>
                </a:solidFill>
                <a:latin typeface="맑은 고딕"/>
              </a:rPr>
              <a:t>[정밀분석] 버튼 클릭
-&gt;  원문 요건 항목별 충족 여부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15384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2336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맑은 고딕"/>
              </a:rPr>
              <a:t>AI 감사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1879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1F5F9"/>
                </a:solidFill>
                <a:latin typeface="맑은 고딕"/>
              </a:rPr>
              <a:t>[AI 감사 실행]  -&gt;  판정 게이트 확인
-&gt;  결과 상단 별표(☆)로 중간 저장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946904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1A2D52"/>
          </a:solidFill>
          <a:ln w="889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9651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맑은 고딕"/>
              </a:rPr>
              <a:t>쉬운설명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4919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F1F5F9"/>
                </a:solidFill>
                <a:latin typeface="맑은 고딕"/>
              </a:rPr>
              <a:t>[AI 전체 검토 시작]  -&gt;  4단 가이드 생성
-&gt;  하단 ☆ 로 최종 결과 저장·공유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444752"/>
            <a:ext cx="4233672" cy="4617720"/>
          </a:xfrm>
          <a:prstGeom prst="roundRect">
            <a:avLst>
              <a:gd name="adj" fmla="val 6000"/>
            </a:avLst>
          </a:prstGeom>
          <a:solidFill>
            <a:srgbClr val="121F3A"/>
          </a:solidFill>
          <a:ln w="6350">
            <a:solidFill>
              <a:srgbClr val="1E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15727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맑은 고딕"/>
              </a:rPr>
              <a:t>   자주 묻는 질문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1911095"/>
            <a:ext cx="4023360" cy="7315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1993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맑은 고딕"/>
              </a:rPr>
              <a:t>Q.  API 키가 없어요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267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A.  Google AI Studio에서 무료 발급
aistudio.google.com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7249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맑은 고딕"/>
              </a:rPr>
              <a:t>Q.  DRM 문서가 안 열려요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9992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A.  암호 해제 후 업로드. PDF 인쇄 저장 방식 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4564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맑은 고딕"/>
              </a:rPr>
              <a:t>Q.  저장 공간 오류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7307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A.  즐겨찾기 뷰어에서 오래된 항목
삭제 후 재시도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187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맑은 고딕"/>
              </a:rPr>
              <a:t>Q.  결과가 사라졌어요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4622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A.  [기록] 탭에서 이전 분석 복원.
새로고침 전 저장 권장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9194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맑은 고딕"/>
              </a:rPr>
              <a:t>Q.  분석이 느려요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1937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4A3B8"/>
                </a:solidFill>
                <a:latin typeface="맑은 고딕"/>
              </a:rPr>
              <a:t>A.  요청 한도 초과로 잠시 대기 중.
자동으로 재시도합니다.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1814</Words>
  <Application>Microsoft Office PowerPoint</Application>
  <PresentationFormat>와이드스크린</PresentationFormat>
  <Paragraphs>265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김지호</cp:lastModifiedBy>
  <cp:revision>2</cp:revision>
  <dcterms:created xsi:type="dcterms:W3CDTF">2013-01-27T09:14:16Z</dcterms:created>
  <dcterms:modified xsi:type="dcterms:W3CDTF">2026-09-07T07:51:16Z</dcterms:modified>
  <cp:category/>
</cp:coreProperties>
</file>